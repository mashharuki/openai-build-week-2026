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df83a363e3404cf4"/><Relationship Type="http://schemas.openxmlformats.org/officeDocument/2006/relationships/extended-properties" Target="/docProps/app.xml" Id="Rf12d621a0c54494e"/><Relationship Type="http://schemas.openxmlformats.org/officeDocument/2006/relationships/officeDocument" Target="/ppt/presentation.xml" Id="R25167ec59d374a4c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d8361e02fb4ddd"/>
  </p:sldMasterIdLst>
  <p:notesMasterIdLst>
    <p:notesMasterId xmlns:r="http://schemas.openxmlformats.org/officeDocument/2006/relationships" r:id="Rbccf8cd94f67453a"/>
  </p:notesMasterIdLst>
  <p:sldIdLst>
    <p:sldId xmlns:r="http://schemas.openxmlformats.org/officeDocument/2006/relationships" id="256" r:id="R7d9d479823014c6b"/>
    <p:sldId xmlns:r="http://schemas.openxmlformats.org/officeDocument/2006/relationships" id="257" r:id="R839a2b3c9b3d4454"/>
    <p:sldId xmlns:r="http://schemas.openxmlformats.org/officeDocument/2006/relationships" id="258" r:id="Rb2af708873154325"/>
    <p:sldId xmlns:r="http://schemas.openxmlformats.org/officeDocument/2006/relationships" id="259" r:id="R37037c9803864a95"/>
    <p:sldId xmlns:r="http://schemas.openxmlformats.org/officeDocument/2006/relationships" id="260" r:id="Rd786e5923c894f9d"/>
    <p:sldId xmlns:r="http://schemas.openxmlformats.org/officeDocument/2006/relationships" id="261" r:id="R5a6e040a73de46d2"/>
    <p:sldId xmlns:r="http://schemas.openxmlformats.org/officeDocument/2006/relationships" id="262" r:id="R2337c7fa62754610"/>
    <p:sldId xmlns:r="http://schemas.openxmlformats.org/officeDocument/2006/relationships" id="263" r:id="Rafa89269a2af4732"/>
    <p:sldId xmlns:r="http://schemas.openxmlformats.org/officeDocument/2006/relationships" id="264" r:id="R2fcfaa33ef4244dd"/>
    <p:sldId xmlns:r="http://schemas.openxmlformats.org/officeDocument/2006/relationships" id="265" r:id="Rb79e8442dbc240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58fb43d8e3794ad8"/><Relationship Type="http://schemas.openxmlformats.org/officeDocument/2006/relationships/slideMaster" Target="/ppt/slideMasters/slideMaster1.xml" Id="Ra9d8361e02fb4ddd"/><Relationship Type="http://schemas.openxmlformats.org/officeDocument/2006/relationships/notesMaster" Target="/ppt/notesMasters/notesMaster1.xml" Id="Rbccf8cd94f67453a"/><Relationship Type="http://schemas.openxmlformats.org/officeDocument/2006/relationships/presProps" Target="/ppt/presProps.xml" Id="Rfaf919df9b3f4d69"/><Relationship Type="http://schemas.openxmlformats.org/officeDocument/2006/relationships/tableStyles" Target="/ppt/tableStyles.xml" Id="R5038c24c36b64319"/><Relationship Type="http://schemas.openxmlformats.org/officeDocument/2006/relationships/slide" Target="/ppt/slides/slide1.xml" Id="R7d9d479823014c6b"/><Relationship Type="http://schemas.openxmlformats.org/officeDocument/2006/relationships/slide" Target="/ppt/slides/slide2.xml" Id="R839a2b3c9b3d4454"/><Relationship Type="http://schemas.openxmlformats.org/officeDocument/2006/relationships/slide" Target="/ppt/slides/slide3.xml" Id="Rb2af708873154325"/><Relationship Type="http://schemas.openxmlformats.org/officeDocument/2006/relationships/slide" Target="/ppt/slides/slide4.xml" Id="R37037c9803864a95"/><Relationship Type="http://schemas.openxmlformats.org/officeDocument/2006/relationships/slide" Target="/ppt/slides/slide5.xml" Id="Rd786e5923c894f9d"/><Relationship Type="http://schemas.openxmlformats.org/officeDocument/2006/relationships/slide" Target="/ppt/slides/slide6.xml" Id="R5a6e040a73de46d2"/><Relationship Type="http://schemas.openxmlformats.org/officeDocument/2006/relationships/slide" Target="/ppt/slides/slide7.xml" Id="R2337c7fa62754610"/><Relationship Type="http://schemas.openxmlformats.org/officeDocument/2006/relationships/slide" Target="/ppt/slides/slide8.xml" Id="Rafa89269a2af4732"/><Relationship Type="http://schemas.openxmlformats.org/officeDocument/2006/relationships/slide" Target="/ppt/slides/slide9.xml" Id="R2fcfaa33ef4244dd"/><Relationship Type="http://schemas.openxmlformats.org/officeDocument/2006/relationships/slide" Target="/ppt/slides/slide10.xml" Id="Rb79e8442dbc2400b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803f755bddf94fbf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165db4adf98f46a4"/><Relationship Type="http://schemas.openxmlformats.org/officeDocument/2006/relationships/notesMaster" Target="/ppt/notesMasters/notesMaster1.xml" Id="Rd56e3c3222d146d7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d009aae190ad4a32"/><Relationship Type="http://schemas.openxmlformats.org/officeDocument/2006/relationships/notesMaster" Target="/ppt/notesMasters/notesMaster1.xml" Id="R27bccecab93746f7"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58297553c62e4d02"/><Relationship Type="http://schemas.openxmlformats.org/officeDocument/2006/relationships/notesMaster" Target="/ppt/notesMasters/notesMaster1.xml" Id="Rf4f3f4790fed4b09"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f6b34cee37124adb"/><Relationship Type="http://schemas.openxmlformats.org/officeDocument/2006/relationships/notesMaster" Target="/ppt/notesMasters/notesMaster1.xml" Id="R760699c2e00f4b9d"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df215b3aa68748f8"/><Relationship Type="http://schemas.openxmlformats.org/officeDocument/2006/relationships/notesMaster" Target="/ppt/notesMasters/notesMaster1.xml" Id="Rb85670a6abe74fb0"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e1bd26f1a45a4a75"/><Relationship Type="http://schemas.openxmlformats.org/officeDocument/2006/relationships/notesMaster" Target="/ppt/notesMasters/notesMaster1.xml" Id="Rfef576beedab4942"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435c3a12d7e1481f"/><Relationship Type="http://schemas.openxmlformats.org/officeDocument/2006/relationships/notesMaster" Target="/ppt/notesMasters/notesMaster1.xml" Id="R022bcb415d7744b7"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573e064320274e55"/><Relationship Type="http://schemas.openxmlformats.org/officeDocument/2006/relationships/notesMaster" Target="/ppt/notesMasters/notesMaster1.xml" Id="Rab00f44d17f14597"/></Relationships>
</file>

<file path=ppt/notesSlides/_rels/notesSlide9.xml.rels><?xml version="1.0" encoding="UTF-8"?><Relationships xmlns="http://schemas.openxmlformats.org/package/2006/relationships"><Relationship Type="http://schemas.openxmlformats.org/officeDocument/2006/relationships/slide" Target="/ppt/slides/slide9.xml" Id="R5b87d7d587394ece"/><Relationship Type="http://schemas.openxmlformats.org/officeDocument/2006/relationships/notesMaster" Target="/ppt/notesMasters/notesMaster1.xml" Id="Ra9ee2bd7e1ea42f9"/></Relationships>
</file>

<file path=ppt/notesSlides/_rels/notesSlide10.xml.rels><?xml version="1.0" encoding="UTF-8"?><Relationships xmlns="http://schemas.openxmlformats.org/package/2006/relationships"><Relationship Type="http://schemas.openxmlformats.org/officeDocument/2006/relationships/slide" Target="/ppt/slides/slide10.xml" Id="R621321029085421a"/><Relationship Type="http://schemas.openxmlformats.org/officeDocument/2006/relationships/notesMaster" Target="/ppt/notesMasters/notesMaster1.xml" Id="R24d2f1dd0f194fbf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93982e2cc13c4b74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f3daa8a18ca84187"/><Relationship Type="http://schemas.openxmlformats.org/officeDocument/2006/relationships/slideLayout" Target="/ppt/slideLayouts/slideLayout1.xml" Id="R72b966608c38409e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b966608c3840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7a56d8530e8472f"/><Relationship Type="http://schemas.openxmlformats.org/officeDocument/2006/relationships/notesSlide" Target="/ppt/notesSlides/notesSlide1.xml" Id="Re7e38a1223ec42af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a51b9c71da444b0"/><Relationship Type="http://schemas.openxmlformats.org/officeDocument/2006/relationships/notesSlide" Target="/ppt/notesSlides/notesSlide2.xml" Id="R6d8833b499c64542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0396874a26048bd"/><Relationship Type="http://schemas.openxmlformats.org/officeDocument/2006/relationships/notesSlide" Target="/ppt/notesSlides/notesSlide3.xml" Id="Rd3ac11ba685e4b95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c7fb9259f204f0d"/><Relationship Type="http://schemas.openxmlformats.org/officeDocument/2006/relationships/notesSlide" Target="/ppt/notesSlides/notesSlide4.xml" Id="R78c2a2598f1143a9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41da1665213458f"/><Relationship Type="http://schemas.openxmlformats.org/officeDocument/2006/relationships/notesSlide" Target="/ppt/notesSlides/notesSlide5.xml" Id="R68f9a8811a7f4646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918b4fcef394012"/><Relationship Type="http://schemas.openxmlformats.org/officeDocument/2006/relationships/notesSlide" Target="/ppt/notesSlides/notesSlide6.xml" Id="R5d5b693903a14e54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affe06f426d4885"/><Relationship Type="http://schemas.openxmlformats.org/officeDocument/2006/relationships/notesSlide" Target="/ppt/notesSlides/notesSlide7.xml" Id="Rcb4933d5372e4fdb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c1b739d99334eda"/><Relationship Type="http://schemas.openxmlformats.org/officeDocument/2006/relationships/notesSlide" Target="/ppt/notesSlides/notesSlide8.xml" Id="Rba396492fd464f38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85060ee53584cef"/><Relationship Type="http://schemas.openxmlformats.org/officeDocument/2006/relationships/notesSlide" Target="/ppt/notesSlides/notesSlide9.xml" Id="R557129ecaa414866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7c7b4893b89443d"/><Relationship Type="http://schemas.openxmlformats.org/officeDocument/2006/relationships/notesSlide" Target="/ppt/notesSlides/notesSlide10.xml" Id="Rebcbe9d7b8224b50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0F5CF9D-6402-462A-BB1C-AD87072E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OPENAI BUILD WEEK 2026 · APPS FOR YOUR LIFE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8B86898-22FF-422E-AFC8-A354EE7C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49BE32-FAC3-4BBD-B90D-9775209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60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60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PawLens</a:t>
            </a:r>
          </a:p>
        </p:txBody>
      </p:sp>
      <p:sp>
        <p:nvSpPr>
          <p:cNvPr id="4" name="promise">
            <a:extLst xmlns:a="http://schemas.openxmlformats.org/drawingml/2006/main">
              <a:ext uri="{FF2B5EF4-FFF2-40B4-BE49-F238E27FC236}">
                <a16:creationId xmlns:a16="http://schemas.microsoft.com/office/drawing/2014/main" id="{03D834B0-021B-41C6-9E17-C403A57D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609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犬の「うるさい」を、</a:t>
            </a:r>
          </a:p>
          <a:p xmlns:a="http://schemas.openxmlformats.org/drawingml/2006/main">
            <a:pPr algn="l">
              <a:defRPr sz="31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観察できるサインへ。</a:t>
            </a:r>
          </a:p>
        </p:txBody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5D6D6470-0A21-4B52-825D-204CAD01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We built the opposite of a dog translator.</a:t>
            </a:r>
          </a:p>
          <a:p xmlns:a="http://schemas.openxmlformats.org/drawingml/2006/main">
            <a:pPr algn="l">
              <a:def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See what to look at — and what to do next.</a:t>
            </a:r>
          </a:p>
        </p:txBody>
      </p:sp>
      <p:sp>
        <p:nvSpPr>
          <p:cNvPr id="6" name="cover-field">
            <a:extLst xmlns:a="http://schemas.openxmlformats.org/drawingml/2006/main">
              <a:ext uri="{FF2B5EF4-FFF2-40B4-BE49-F238E27FC236}">
                <a16:creationId xmlns:a16="http://schemas.microsoft.com/office/drawing/2014/main" id="{3A33E0EB-729B-4A4C-8661-83126282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028700"/>
            <a:ext cx="428625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DD3D8"/>
            </a:solidFill>
            <a:prstDash val="solid"/>
          </a:ln>
        </p:spPr>
      </p:sp>
      <p:sp>
        <p:nvSpPr>
          <p:cNvPr id="7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8F4BB29E-B2AA-4C8A-8A8C-99BF3411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19250"/>
            <a:ext cx="3448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“何を言っている？”ではなく、</a:t>
            </a:r>
          </a:p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“何を観察し、どう配慮する？”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7400925" y="34290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734AD1F-3191-4F76-B051-F3B7D852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95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不確実性の通訳</a:t>
            </a:r>
          </a:p>
        </p:txBody>
      </p:sp>
      <p:sp>
        <p:nvSpPr>
          <p:cNvPr id="10" name="cover-inputs">
            <a:extLst xmlns:a="http://schemas.openxmlformats.org/drawingml/2006/main">
              <a:ext uri="{FF2B5EF4-FFF2-40B4-BE49-F238E27FC236}">
                <a16:creationId xmlns:a16="http://schemas.microsoft.com/office/drawing/2014/main" id="{DF4689CA-FE74-4937-ADE3-03DC0125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672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音声 · 写真 / 動画 · 状況 · その子の履歴</a:t>
            </a:r>
          </a:p>
        </p:txBody>
      </p:sp>
    </p:spTree>
    <p:extLst>
      <p:ext uri="{BB962C8B-B14F-4D97-AF65-F5344CB8AC3E}">
        <p14:creationId xmlns:p14="http://schemas.microsoft.com/office/powerpoint/2010/main" val="1153640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29D30F4-04AA-4409-B377-B661F87A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318BB12-EE1A-41B2-AED7-3C08AF27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F92D98-08F0-4989-8F8B-F286F6F3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「ピンポーン」の後、飼い主はすぐに答えを求める。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2EDFD22-FEE8-4B3B-A40D-DCE83AE9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都市部の暮らしでは、来客・留守番・散歩前後の小さな不安が繰り返される。</a:t>
            </a:r>
          </a:p>
        </p:txBody>
      </p:sp>
      <p:sp>
        <p:nvSpPr>
          <p:cNvPr id="5" name="moment">
            <a:extLst xmlns:a="http://schemas.openxmlformats.org/drawingml/2006/main">
              <a:ext uri="{FF2B5EF4-FFF2-40B4-BE49-F238E27FC236}">
                <a16:creationId xmlns:a16="http://schemas.microsoft.com/office/drawing/2014/main" id="{ABD7C1BE-FFBD-47A8-997F-EE005BD1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508635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5EAE35B2-2ADF-44D4-825A-9B68D064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2413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C2413A"/>
                </a:solidFill>
                <a:latin typeface="Hiragino Sans"/>
                <a:ea typeface="Hiragino Sans"/>
                <a:cs typeface="Hiragino Sans"/>
              </a:rPr>
              <a:t>DOG MOMENT</a:t>
            </a:r>
          </a:p>
        </p:txBody>
      </p:sp>
      <p:sp>
        <p:nvSpPr>
          <p:cNvPr id="7" name="dog-moment">
            <a:extLst xmlns:a="http://schemas.openxmlformats.org/drawingml/2006/main">
              <a:ext uri="{FF2B5EF4-FFF2-40B4-BE49-F238E27FC236}">
                <a16:creationId xmlns:a16="http://schemas.microsoft.com/office/drawing/2014/main" id="{4D51561B-52EC-488A-BCA6-BEAC602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犬が激しく吠える。</a:t>
            </a:r>
          </a:p>
        </p:txBody>
      </p:sp>
      <p:sp>
        <p:nvSpPr>
          <p:cNvPr id="8" name="questions">
            <a:extLst xmlns:a="http://schemas.openxmlformats.org/drawingml/2006/main">
              <a:ext uri="{FF2B5EF4-FFF2-40B4-BE49-F238E27FC236}">
                <a16:creationId xmlns:a16="http://schemas.microsoft.com/office/drawing/2014/main" id="{03B39BB3-D05E-44FA-AD49-FC274EFA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警戒？　興奮？　要求？</a:t>
            </a:r>
          </a:p>
          <a:p xmlns:a="http://schemas.openxmlformats.org/drawingml/2006/main">
            <a:pPr algn="l">
              <a:defRPr sz="20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今、何をすればいい？</a:t>
            </a:r>
          </a:p>
        </p:txBody>
      </p:sp>
      <p:sp>
        <p:nvSpPr>
          <p:cNvPr id="9" name="uncertainty">
            <a:extLst xmlns:a="http://schemas.openxmlformats.org/drawingml/2006/main">
              <a:ext uri="{FF2B5EF4-FFF2-40B4-BE49-F238E27FC236}">
                <a16:creationId xmlns:a16="http://schemas.microsoft.com/office/drawing/2014/main" id="{AB00B0B9-C75E-4256-978D-D40770EE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音だけでは判断できない。</a:t>
            </a:r>
          </a:p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けれど、決めつけてしまいやすい。</a:t>
            </a:r>
          </a:p>
        </p:txBody>
      </p:sp>
      <p:sp>
        <p:nvSpPr>
          <p:cNvPr id="10" name="old-way">
            <a:extLst xmlns:a="http://schemas.openxmlformats.org/drawingml/2006/main">
              <a:ext uri="{FF2B5EF4-FFF2-40B4-BE49-F238E27FC236}">
                <a16:creationId xmlns:a16="http://schemas.microsoft.com/office/drawing/2014/main" id="{342BE2D4-8234-420A-B5EA-ADAF9256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520065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6D6C5281-46DE-4448-85FF-40CA92D0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TODAY</a:t>
            </a:r>
          </a:p>
        </p:txBody>
      </p:sp>
      <p:sp>
        <p:nvSpPr>
          <p:cNvPr id="12" name="old-title">
            <a:extLst xmlns:a="http://schemas.openxmlformats.org/drawingml/2006/main">
              <a:ext uri="{FF2B5EF4-FFF2-40B4-BE49-F238E27FC236}">
                <a16:creationId xmlns:a16="http://schemas.microsoft.com/office/drawing/2014/main" id="{A37F7A15-396C-4CCC-BF88-2C982417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「うるさい」→ 止めさせる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6496050" y="3543300"/>
            <a:ext cx="361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8"/>
            </a:solidFill>
            <a:prstDash val="solid"/>
          </a:ln>
        </p:spPr>
      </p:cxnSp>
      <p:sp>
        <p:nvSpPr>
          <p:cNvPr id="14" name="old-copy">
            <a:extLst xmlns:a="http://schemas.openxmlformats.org/drawingml/2006/main">
              <a:ext uri="{FF2B5EF4-FFF2-40B4-BE49-F238E27FC236}">
                <a16:creationId xmlns:a16="http://schemas.microsoft.com/office/drawing/2014/main" id="{F90E8F35-722E-4D08-B0D5-4DF84A08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犬の状態を確かめないまま、</a:t>
            </a:r>
          </a:p>
          <a:p xmlns:a="http://schemas.openxmlformats.org/drawingml/2006/main">
            <a:pPr algn="l">
              <a:def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叱る・距離を詰める・判断を急ぐ。</a:t>
            </a:r>
          </a:p>
        </p:txBody>
      </p:sp>
      <p:sp>
        <p:nvSpPr>
          <p:cNvPr id="15" name="old-claim">
            <a:extLst xmlns:a="http://schemas.openxmlformats.org/drawingml/2006/main">
              <a:ext uri="{FF2B5EF4-FFF2-40B4-BE49-F238E27FC236}">
                <a16:creationId xmlns:a16="http://schemas.microsoft.com/office/drawing/2014/main" id="{D5E117C5-683E-403C-BDD5-07FBCB1B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2413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2413A"/>
                </a:solidFill>
                <a:latin typeface="Hiragino Sans"/>
                <a:ea typeface="Hiragino Sans"/>
                <a:cs typeface="Hiragino Sans"/>
              </a:rPr>
              <a:t>観察の入口がないことが問題。</a:t>
            </a:r>
          </a:p>
        </p:txBody>
      </p:sp>
    </p:spTree>
    <p:extLst>
      <p:ext uri="{BB962C8B-B14F-4D97-AF65-F5344CB8AC3E}">
        <p14:creationId xmlns:p14="http://schemas.microsoft.com/office/powerpoint/2010/main" val="1303914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9D8CA45-CBEE-456D-BDB8-EF4D97B9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572CA81-3458-4EBE-B5B1-A3757D64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2579A7-3E53-44D1-B986-389C987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PawLens は「犬語翻訳機」ではない。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681A46C-497B-4735-97F0-64E2C549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もっともらしい答えではなく、根拠のある仮説と観察を返す。</a:t>
            </a:r>
          </a:p>
        </p:txBody>
      </p:sp>
      <p:sp>
        <p:nvSpPr>
          <p:cNvPr id="5" name="not-translation">
            <a:extLst xmlns:a="http://schemas.openxmlformats.org/drawingml/2006/main">
              <a:ext uri="{FF2B5EF4-FFF2-40B4-BE49-F238E27FC236}">
                <a16:creationId xmlns:a16="http://schemas.microsoft.com/office/drawing/2014/main" id="{770B0212-4815-483E-BF15-B98863C1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29000" cy="2743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B2CD41A9-F46A-46B3-ADFC-A2DA7737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2413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C2413A"/>
                </a:solidFill>
                <a:latin typeface="Hiragino Sans"/>
                <a:ea typeface="Hiragino Sans"/>
                <a:cs typeface="Hiragino Sans"/>
              </a:rPr>
              <a:t>AVOID</a:t>
            </a:r>
          </a:p>
        </p:txBody>
      </p:sp>
      <p:sp>
        <p:nvSpPr>
          <p:cNvPr id="7" name="avoid">
            <a:extLst xmlns:a="http://schemas.openxmlformats.org/drawingml/2006/main">
              <a:ext uri="{FF2B5EF4-FFF2-40B4-BE49-F238E27FC236}">
                <a16:creationId xmlns:a16="http://schemas.microsoft.com/office/drawing/2014/main" id="{7E84D8EC-2688-418A-805A-52F03FAF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犬のセリフを</a:t>
            </a:r>
          </a:p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代弁すること</a:t>
            </a:r>
          </a:p>
        </p:txBody>
      </p:sp>
      <p:sp>
        <p:nvSpPr>
          <p:cNvPr id="8" name="avoid-detail">
            <a:extLst xmlns:a="http://schemas.openxmlformats.org/drawingml/2006/main">
              <a:ext uri="{FF2B5EF4-FFF2-40B4-BE49-F238E27FC236}">
                <a16:creationId xmlns:a16="http://schemas.microsoft.com/office/drawing/2014/main" id="{5798AD7B-DD03-4013-9305-7F449289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「ぼく、こわいよ」</a:t>
            </a:r>
          </a:p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のような断定はしない。</a:t>
            </a:r>
          </a:p>
        </p:txBody>
      </p:sp>
      <p:sp>
        <p:nvSpPr>
          <p:cNvPr id="9" name="thesis">
            <a:extLst xmlns:a="http://schemas.openxmlformats.org/drawingml/2006/main">
              <a:ext uri="{FF2B5EF4-FFF2-40B4-BE49-F238E27FC236}">
                <a16:creationId xmlns:a16="http://schemas.microsoft.com/office/drawing/2014/main" id="{0A7F59D1-5FCB-4C16-BD10-23A8A0BD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90750"/>
            <a:ext cx="7019925" cy="2743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201322FD-4B9B-415B-B1FF-41C0C787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14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DO</a:t>
            </a:r>
          </a:p>
        </p:txBody>
      </p:sp>
      <p:sp>
        <p:nvSpPr>
          <p:cNvPr id="11" name="do">
            <a:extLst xmlns:a="http://schemas.openxmlformats.org/drawingml/2006/main">
              <a:ext uri="{FF2B5EF4-FFF2-40B4-BE49-F238E27FC236}">
                <a16:creationId xmlns:a16="http://schemas.microsoft.com/office/drawing/2014/main" id="{84D5B1AA-7DEA-470D-8897-AF71115A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00375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状況に合う複数の仮説を示し、</a:t>
            </a:r>
          </a:p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飼い主の目で確かめてもらう。</a:t>
            </a:r>
          </a:p>
        </p:txBody>
      </p:sp>
      <p:sp>
        <p:nvSpPr>
          <p:cNvPr id="12" name="do-detail">
            <a:extLst xmlns:a="http://schemas.openxmlformats.org/drawingml/2006/main">
              <a:ext uri="{FF2B5EF4-FFF2-40B4-BE49-F238E27FC236}">
                <a16:creationId xmlns:a16="http://schemas.microsoft.com/office/drawing/2014/main" id="{5AB3AB8A-6414-4DA1-B4EA-E4AB749B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9575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確信度・限界・身体サイン・安全な次の一手を、必ずセットで返す。</a:t>
            </a:r>
          </a:p>
        </p:txBody>
      </p:sp>
      <p:sp>
        <p:nvSpPr>
          <p:cNvPr id="13" name="thesis-line">
            <a:extLst xmlns:a="http://schemas.openxmlformats.org/drawingml/2006/main">
              <a:ext uri="{FF2B5EF4-FFF2-40B4-BE49-F238E27FC236}">
                <a16:creationId xmlns:a16="http://schemas.microsoft.com/office/drawing/2014/main" id="{AD438BA8-5456-4C14-8CE0-D806EF76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答えを置き換えるのではなく、飼い主の観察力を育てる。</a:t>
            </a:r>
          </a:p>
        </p:txBody>
      </p:sp>
    </p:spTree>
    <p:extLst>
      <p:ext uri="{BB962C8B-B14F-4D97-AF65-F5344CB8AC3E}">
        <p14:creationId xmlns:p14="http://schemas.microsoft.com/office/powerpoint/2010/main" val="343348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4FC91FC-A75A-4C0F-BE31-67D79444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3FD786D-29D5-4C5C-A748-CA43A22A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4D0BA7-80FC-40A2-9F5F-021122EB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飼い主の1回の「困った」を、次の理解につなげる。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908AD9F-9F2E-4939-8572-508A88B8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 は、会話の中で自然に始まり、次回の判断を少しずつ良くする。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52450" y="3476625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84F7E-5EBC-4B13-80F7-1C6595BB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AC9F4-48CC-4E49-A5EF-96CDB474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1B629-970F-4B16-953C-D154F48D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62E07-92EF-47A5-AF6B-88FB393B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00169-51FC-4728-A448-24BD499D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08904-D8DF-46C0-B560-E9E78005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step-num-0">
            <a:extLst xmlns:a="http://schemas.openxmlformats.org/drawingml/2006/main">
              <a:ext uri="{FF2B5EF4-FFF2-40B4-BE49-F238E27FC236}">
                <a16:creationId xmlns:a16="http://schemas.microsoft.com/office/drawing/2014/main" id="{B7D1753E-3ADC-4408-8D1A-92A9A844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3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4D2512E5-8268-4D5B-AC5A-172647F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鳴き声</a:t>
            </a:r>
          </a:p>
        </p:txBody>
      </p:sp>
      <p:sp>
        <p:nvSpPr>
          <p:cNvPr id="14" name="step-copy-0">
            <a:extLst xmlns:a="http://schemas.openxmlformats.org/drawingml/2006/main">
              <a:ext uri="{FF2B5EF4-FFF2-40B4-BE49-F238E27FC236}">
                <a16:creationId xmlns:a16="http://schemas.microsoft.com/office/drawing/2014/main" id="{98FE75B2-B382-4838-A70E-D8C9C36B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来客時に吠える</a:t>
            </a:r>
          </a:p>
        </p:txBody>
      </p:sp>
      <p:sp>
        <p:nvSpPr>
          <p:cNvPr id="15" name="step-num-1">
            <a:extLst xmlns:a="http://schemas.openxmlformats.org/drawingml/2006/main">
              <a:ext uri="{FF2B5EF4-FFF2-40B4-BE49-F238E27FC236}">
                <a16:creationId xmlns:a16="http://schemas.microsoft.com/office/drawing/2014/main" id="{ED8A686B-19E1-4E76-B6D4-1BDC30C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86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E530F3BF-9431-4433-B1F1-75013F1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0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添付</a:t>
            </a:r>
          </a:p>
        </p:txBody>
      </p:sp>
      <p:sp>
        <p:nvSpPr>
          <p:cNvPr id="17" name="step-copy-1">
            <a:extLst xmlns:a="http://schemas.openxmlformats.org/drawingml/2006/main">
              <a:ext uri="{FF2B5EF4-FFF2-40B4-BE49-F238E27FC236}">
                <a16:creationId xmlns:a16="http://schemas.microsoft.com/office/drawing/2014/main" id="{95F01351-577C-4A7E-AA39-1697816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71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音声＋写真/動画</a:t>
            </a:r>
          </a:p>
        </p:txBody>
      </p:sp>
      <p:sp>
        <p:nvSpPr>
          <p:cNvPr id="18" name="step-num-2">
            <a:extLst xmlns:a="http://schemas.openxmlformats.org/drawingml/2006/main">
              <a:ext uri="{FF2B5EF4-FFF2-40B4-BE49-F238E27FC236}">
                <a16:creationId xmlns:a16="http://schemas.microsoft.com/office/drawing/2014/main" id="{AFFB3EFE-C964-4D49-98E3-7858670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A42A50DB-D422-4C9A-9D42-74831106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10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状況</a:t>
            </a:r>
          </a:p>
        </p:txBody>
      </p:sp>
      <p:sp>
        <p:nvSpPr>
          <p:cNvPr id="20" name="step-copy-2">
            <a:extLst xmlns:a="http://schemas.openxmlformats.org/drawingml/2006/main">
              <a:ext uri="{FF2B5EF4-FFF2-40B4-BE49-F238E27FC236}">
                <a16:creationId xmlns:a16="http://schemas.microsoft.com/office/drawing/2014/main" id="{45230294-3AA6-4304-B6C1-E4F55D0C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71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「来客」を選ぶ</a:t>
            </a:r>
          </a:p>
        </p:txBody>
      </p:sp>
      <p:sp>
        <p:nvSpPr>
          <p:cNvPr id="21" name="step-num-3">
            <a:extLst xmlns:a="http://schemas.openxmlformats.org/drawingml/2006/main">
              <a:ext uri="{FF2B5EF4-FFF2-40B4-BE49-F238E27FC236}">
                <a16:creationId xmlns:a16="http://schemas.microsoft.com/office/drawing/2014/main" id="{550D858F-C436-4C1D-A02D-2FA8F98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86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2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43F5B9E2-EDEE-4260-B2A6-F858600B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0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見立て</a:t>
            </a:r>
          </a:p>
        </p:txBody>
      </p:sp>
      <p:sp>
        <p:nvSpPr>
          <p:cNvPr id="23" name="step-copy-3">
            <a:extLst xmlns:a="http://schemas.openxmlformats.org/drawingml/2006/main">
              <a:ext uri="{FF2B5EF4-FFF2-40B4-BE49-F238E27FC236}">
                <a16:creationId xmlns:a16="http://schemas.microsoft.com/office/drawing/2014/main" id="{539367E5-8257-4AF0-947D-26C0123C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仮説と観察点</a:t>
            </a:r>
          </a:p>
        </p:txBody>
      </p:sp>
      <p:sp>
        <p:nvSpPr>
          <p:cNvPr id="24" name="step-num-4">
            <a:extLst xmlns:a="http://schemas.openxmlformats.org/drawingml/2006/main">
              <a:ext uri="{FF2B5EF4-FFF2-40B4-BE49-F238E27FC236}">
                <a16:creationId xmlns:a16="http://schemas.microsoft.com/office/drawing/2014/main" id="{518F5BBD-48FA-4A38-BE98-3BB56AFC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5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79CAFF94-AB88-4E2F-9652-170B2917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行動</a:t>
            </a:r>
          </a:p>
        </p:txBody>
      </p:sp>
      <p:sp>
        <p:nvSpPr>
          <p:cNvPr id="26" name="step-copy-4">
            <a:extLst xmlns:a="http://schemas.openxmlformats.org/drawingml/2006/main">
              <a:ext uri="{FF2B5EF4-FFF2-40B4-BE49-F238E27FC236}">
                <a16:creationId xmlns:a16="http://schemas.microsoft.com/office/drawing/2014/main" id="{B6082D70-6C08-49DE-A1A6-502712A5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71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刺激を下げる</a:t>
            </a:r>
          </a:p>
        </p:txBody>
      </p:sp>
      <p:sp>
        <p:nvSpPr>
          <p:cNvPr id="27" name="step-num-5">
            <a:extLst xmlns:a="http://schemas.openxmlformats.org/drawingml/2006/main">
              <a:ext uri="{FF2B5EF4-FFF2-40B4-BE49-F238E27FC236}">
                <a16:creationId xmlns:a16="http://schemas.microsoft.com/office/drawing/2014/main" id="{EC6CACE0-B9F8-4177-9E0E-8F31C759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86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8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773BF4C9-D64F-4A2E-AB1D-DF6A5D44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記録</a:t>
            </a:r>
          </a:p>
        </p:txBody>
      </p:sp>
      <p:sp>
        <p:nvSpPr>
          <p:cNvPr id="29" name="step-copy-5">
            <a:extLst xmlns:a="http://schemas.openxmlformats.org/drawingml/2006/main">
              <a:ext uri="{FF2B5EF4-FFF2-40B4-BE49-F238E27FC236}">
                <a16:creationId xmlns:a16="http://schemas.microsoft.com/office/drawing/2014/main" id="{275DABDD-DAD2-4776-9425-FC7D2B91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171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次回に活かす</a:t>
            </a:r>
          </a:p>
        </p:txBody>
      </p:sp>
      <p:sp>
        <p:nvSpPr>
          <p:cNvPr id="30" name="journey-claim">
            <a:extLst xmlns:a="http://schemas.openxmlformats.org/drawingml/2006/main">
              <a:ext uri="{FF2B5EF4-FFF2-40B4-BE49-F238E27FC236}">
                <a16:creationId xmlns:a16="http://schemas.microsoft.com/office/drawing/2014/main" id="{502E3416-7E26-42CC-86FB-081D6B5A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“分析”で終わらず、飼い主の行動と記録までを1つの流れにする。</a:t>
            </a:r>
          </a:p>
        </p:txBody>
      </p:sp>
    </p:spTree>
    <p:extLst>
      <p:ext uri="{BB962C8B-B14F-4D97-AF65-F5344CB8AC3E}">
        <p14:creationId xmlns:p14="http://schemas.microsoft.com/office/powerpoint/2010/main" val="602944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7749B05-8B97-47FB-89C3-921914E3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3A68A8B-AAFF-454A-B623-EE73F45E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91341A-4431-4B5F-8D12-DAD15E7E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最初に集めるのは、答えではなく文脈。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722E518-872E-4409-80CB-7D6EC472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情報が足りないときは、PawLens 自身が追加の観察を促す。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43803CDF-5BEC-4B2B-B72E-F36D0EE3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DEABFF58-120D-488B-BBC5-D4B2F6B7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WHAT THE OWNER SHARES</a:t>
            </a:r>
          </a:p>
        </p:txBody>
      </p:sp>
      <p:sp>
        <p:nvSpPr>
          <p:cNvPr id="7" name="inputs">
            <a:extLst xmlns:a="http://schemas.openxmlformats.org/drawingml/2006/main">
              <a:ext uri="{FF2B5EF4-FFF2-40B4-BE49-F238E27FC236}">
                <a16:creationId xmlns:a16="http://schemas.microsoft.com/office/drawing/2014/main" id="{28B5592A-3B95-4A1B-9B1C-FDB14CD1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381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音声（〜10秒）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写真 / 短い動画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場面の選択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犬のプロフィール</a:t>
            </a:r>
          </a:p>
        </p:txBody>
      </p:sp>
      <p:sp>
        <p:nvSpPr>
          <p:cNvPr id="8" name="input-detail">
            <a:extLst xmlns:a="http://schemas.openxmlformats.org/drawingml/2006/main">
              <a:ext uri="{FF2B5EF4-FFF2-40B4-BE49-F238E27FC236}">
                <a16:creationId xmlns:a16="http://schemas.microsoft.com/office/drawing/2014/main" id="{7DC6C6D0-1E6F-480B-A1F9-9A31C0F0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来客 · 留守番 · 散歩 · 食事 · 遊び · 他犬 · 不明</a:t>
            </a:r>
          </a:p>
        </p:txBody>
      </p:sp>
      <p:sp>
        <p:nvSpPr>
          <p:cNvPr id="9" name="question">
            <a:extLst xmlns:a="http://schemas.openxmlformats.org/drawingml/2006/main">
              <a:ext uri="{FF2B5EF4-FFF2-40B4-BE49-F238E27FC236}">
                <a16:creationId xmlns:a16="http://schemas.microsoft.com/office/drawing/2014/main" id="{29BE64C5-F00D-48C4-85F2-6EDF4B2A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2959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51C79138-C791-4829-99BC-5D9F9934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WHEN UNCERTAIN</a:t>
            </a:r>
          </a:p>
        </p:txBody>
      </p:sp>
      <p:sp>
        <p:nvSpPr>
          <p:cNvPr id="11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A2391BB-FC1F-4705-839A-7820B8A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「吠える前に、</a:t>
            </a:r>
          </a:p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何がありましたか？」</a:t>
            </a:r>
          </a:p>
        </p:txBody>
      </p:sp>
      <p:sp>
        <p:nvSpPr>
          <p:cNvPr id="12" name="question-copy">
            <a:extLst xmlns:a="http://schemas.openxmlformats.org/drawingml/2006/main">
              <a:ext uri="{FF2B5EF4-FFF2-40B4-BE49-F238E27FC236}">
                <a16:creationId xmlns:a16="http://schemas.microsoft.com/office/drawing/2014/main" id="{284D1BF0-CC05-4527-A86E-4959B290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433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耳・尻尾・視線・体の硬さ・直後の行動。</a:t>
            </a:r>
          </a:p>
          <a:p xmlns:a="http://schemas.openxmlformats.org/drawingml/2006/main">
            <a:pPr algn="l">
              <a:defRPr sz="142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足りない情報を、飼い主が見られる形で尋ねる。</a:t>
            </a:r>
          </a:p>
        </p:txBody>
      </p:sp>
      <p:sp>
        <p:nvSpPr>
          <p:cNvPr id="13" name="question-claim">
            <a:extLst xmlns:a="http://schemas.openxmlformats.org/drawingml/2006/main">
              <a:ext uri="{FF2B5EF4-FFF2-40B4-BE49-F238E27FC236}">
                <a16:creationId xmlns:a16="http://schemas.microsoft.com/office/drawing/2014/main" id="{A1607108-6910-4D55-8932-DCD6404F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006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低確信度は失敗ではない。観察を始める合図。</a:t>
            </a:r>
          </a:p>
        </p:txBody>
      </p:sp>
    </p:spTree>
    <p:extLst>
      <p:ext uri="{BB962C8B-B14F-4D97-AF65-F5344CB8AC3E}">
        <p14:creationId xmlns:p14="http://schemas.microsoft.com/office/powerpoint/2010/main" val="219278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C8DF484-0351-474E-B5C8-F6F6D6D7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EAB8BBE-D7BE-4FBF-9B54-4FA40F82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AFED83-1FE5-4344-AEBC-2B908C74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「今の見立て」カードが、迷いを次の一手へ変える。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AF636BD-641F-4C1B-8F7D-44382B9A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GPT-5.6 は、厳格な構造化出力でこの4点を必ず返す。</a:t>
            </a:r>
          </a:p>
        </p:txBody>
      </p:sp>
      <p:sp>
        <p:nvSpPr>
          <p:cNvPr id="5" name="card-0">
            <a:extLst xmlns:a="http://schemas.openxmlformats.org/drawingml/2006/main">
              <a:ext uri="{FF2B5EF4-FFF2-40B4-BE49-F238E27FC236}">
                <a16:creationId xmlns:a16="http://schemas.microsoft.com/office/drawing/2014/main" id="{EEDDB87D-E780-49C2-9230-0E00A10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55435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rd-h-0">
            <a:extLst xmlns:a="http://schemas.openxmlformats.org/drawingml/2006/main">
              <a:ext uri="{FF2B5EF4-FFF2-40B4-BE49-F238E27FC236}">
                <a16:creationId xmlns:a16="http://schemas.microsoft.com/office/drawing/2014/main" id="{ED68B0A7-7CE0-4312-BFAD-51A220C4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状態仮説</a:t>
            </a:r>
          </a:p>
        </p:txBody>
      </p:sp>
      <p:sp>
        <p:nvSpPr>
          <p:cNvPr id="7" name="card-b-0">
            <a:extLst xmlns:a="http://schemas.openxmlformats.org/drawingml/2006/main">
              <a:ext uri="{FF2B5EF4-FFF2-40B4-BE49-F238E27FC236}">
                <a16:creationId xmlns:a16="http://schemas.microsoft.com/office/drawing/2014/main" id="{C8EC3116-D825-419D-88CE-38D1EF7E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警戒の可能性が中程度。</a:t>
            </a:r>
          </a:p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次点で興奮。</a:t>
            </a:r>
          </a:p>
        </p:txBody>
      </p:sp>
      <p:sp>
        <p:nvSpPr>
          <p:cNvPr id="8" name="card-1">
            <a:extLst xmlns:a="http://schemas.openxmlformats.org/drawingml/2006/main">
              <a:ext uri="{FF2B5EF4-FFF2-40B4-BE49-F238E27FC236}">
                <a16:creationId xmlns:a16="http://schemas.microsoft.com/office/drawing/2014/main" id="{F8FDB5BF-8CE4-43C3-ADE9-BD1B9368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55435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h-1">
            <a:extLst xmlns:a="http://schemas.openxmlformats.org/drawingml/2006/main">
              <a:ext uri="{FF2B5EF4-FFF2-40B4-BE49-F238E27FC236}">
                <a16:creationId xmlns:a16="http://schemas.microsoft.com/office/drawing/2014/main" id="{72E8FBA7-8F7C-400F-BFC7-18267D29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確信度と限界</a:t>
            </a:r>
          </a:p>
        </p:txBody>
      </p:sp>
      <p:sp>
        <p:nvSpPr>
          <p:cNvPr id="10" name="card-b-1">
            <a:extLst xmlns:a="http://schemas.openxmlformats.org/drawingml/2006/main">
              <a:ext uri="{FF2B5EF4-FFF2-40B4-BE49-F238E27FC236}">
                <a16:creationId xmlns:a16="http://schemas.microsoft.com/office/drawing/2014/main" id="{C3198B1E-B695-44A9-A496-DA1ED71A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音声と1枚の写真だけでは</a:t>
            </a:r>
          </a:p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断定できません。</a:t>
            </a:r>
          </a:p>
        </p:txBody>
      </p:sp>
      <p:sp>
        <p:nvSpPr>
          <p:cNvPr id="11" name="card-2">
            <a:extLst xmlns:a="http://schemas.openxmlformats.org/drawingml/2006/main">
              <a:ext uri="{FF2B5EF4-FFF2-40B4-BE49-F238E27FC236}">
                <a16:creationId xmlns:a16="http://schemas.microsoft.com/office/drawing/2014/main" id="{FF32A686-2D2E-44CD-AE63-778038E5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5435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DE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rd-h-2">
            <a:extLst xmlns:a="http://schemas.openxmlformats.org/drawingml/2006/main">
              <a:ext uri="{FF2B5EF4-FFF2-40B4-BE49-F238E27FC236}">
                <a16:creationId xmlns:a16="http://schemas.microsoft.com/office/drawing/2014/main" id="{3C51B638-4C16-43CA-8FE4-951A3AF2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観察ポイント</a:t>
            </a:r>
          </a:p>
        </p:txBody>
      </p:sp>
      <p:sp>
        <p:nvSpPr>
          <p:cNvPr id="13" name="card-b-2">
            <a:extLst xmlns:a="http://schemas.openxmlformats.org/drawingml/2006/main">
              <a:ext uri="{FF2B5EF4-FFF2-40B4-BE49-F238E27FC236}">
                <a16:creationId xmlns:a16="http://schemas.microsoft.com/office/drawing/2014/main" id="{B7687F03-C7AE-4A66-BEA3-C41AAC66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耳の向き · 尻尾の高さ ·</a:t>
            </a:r>
          </a:p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視線 · 体の硬さ。</a:t>
            </a:r>
          </a:p>
        </p:txBody>
      </p:sp>
      <p:sp>
        <p:nvSpPr>
          <p:cNvPr id="14" name="card-3">
            <a:extLst xmlns:a="http://schemas.openxmlformats.org/drawingml/2006/main">
              <a:ext uri="{FF2B5EF4-FFF2-40B4-BE49-F238E27FC236}">
                <a16:creationId xmlns:a16="http://schemas.microsoft.com/office/drawing/2014/main" id="{B6280A27-CC8C-4637-97D2-36648179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55435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h-3">
            <a:extLst xmlns:a="http://schemas.openxmlformats.org/drawingml/2006/main">
              <a:ext uri="{FF2B5EF4-FFF2-40B4-BE49-F238E27FC236}">
                <a16:creationId xmlns:a16="http://schemas.microsoft.com/office/drawing/2014/main" id="{70A76851-3E56-4F21-AA19-9A85186E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次の一手</a:t>
            </a:r>
          </a:p>
        </p:txBody>
      </p:sp>
      <p:sp>
        <p:nvSpPr>
          <p:cNvPr id="16" name="card-b-3">
            <a:extLst xmlns:a="http://schemas.openxmlformats.org/drawingml/2006/main">
              <a:ext uri="{FF2B5EF4-FFF2-40B4-BE49-F238E27FC236}">
                <a16:creationId xmlns:a16="http://schemas.microsoft.com/office/drawing/2014/main" id="{A46D1EAA-EDA6-456C-807C-EF9902C6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距離を取り、刺激を下げる。</a:t>
            </a:r>
          </a:p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変化が続けば専門家へ。</a:t>
            </a:r>
          </a:p>
        </p:txBody>
      </p:sp>
    </p:spTree>
    <p:extLst>
      <p:ext uri="{BB962C8B-B14F-4D97-AF65-F5344CB8AC3E}">
        <p14:creationId xmlns:p14="http://schemas.microsoft.com/office/powerpoint/2010/main" val="1230869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BA8EF30-B727-481A-BA75-3DFAE273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6D39134-9551-4C01-882D-C775A36B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61E178-CDD5-446E-90F8-53127858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見立ての価値は、犬に配慮した行動を選べること。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F72657F-A81D-4F47-B0E4-B1F852A1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 は診断をしない。低刺激で安全な対応を、具体的に提案する。</a:t>
            </a:r>
          </a:p>
        </p:txBody>
      </p:sp>
      <p:sp>
        <p:nvSpPr>
          <p:cNvPr id="5" name="before">
            <a:extLst xmlns:a="http://schemas.openxmlformats.org/drawingml/2006/main">
              <a:ext uri="{FF2B5EF4-FFF2-40B4-BE49-F238E27FC236}">
                <a16:creationId xmlns:a16="http://schemas.microsoft.com/office/drawing/2014/main" id="{F11289F4-561B-4A8E-A5B9-B621C8FB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9052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BE661A22-CB86-40F7-96D1-58BF8D35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2413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C2413A"/>
                </a:solidFill>
                <a:latin typeface="Hiragino Sans"/>
                <a:ea typeface="Hiragino Sans"/>
                <a:cs typeface="Hiragino Sans"/>
              </a:rPr>
              <a:t>BEFORE</a:t>
            </a:r>
          </a:p>
        </p:txBody>
      </p:sp>
      <p:sp>
        <p:nvSpPr>
          <p:cNvPr id="7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10D76B3E-49E4-43A0-93AA-46885D26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「止めさせなきゃ」</a:t>
            </a:r>
          </a:p>
        </p:txBody>
      </p:sp>
      <p:sp>
        <p:nvSpPr>
          <p:cNvPr id="8" name="before-copy">
            <a:extLst xmlns:a="http://schemas.openxmlformats.org/drawingml/2006/main">
              <a:ext uri="{FF2B5EF4-FFF2-40B4-BE49-F238E27FC236}">
                <a16:creationId xmlns:a16="http://schemas.microsoft.com/office/drawing/2014/main" id="{96B8B0A7-3ECA-48A4-BCCD-CBB244D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叱る · 距離を詰める ·</a:t>
            </a:r>
          </a:p>
          <a:p xmlns:a="http://schemas.openxmlformats.org/drawingml/2006/main">
            <a:pPr algn="l">
              <a:def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原因を決めつける</a:t>
            </a:r>
          </a:p>
        </p:txBody>
      </p:sp>
      <p:sp>
        <p:nvSpPr>
          <p:cNvPr id="9" name="after">
            <a:extLst xmlns:a="http://schemas.openxmlformats.org/drawingml/2006/main">
              <a:ext uri="{FF2B5EF4-FFF2-40B4-BE49-F238E27FC236}">
                <a16:creationId xmlns:a16="http://schemas.microsoft.com/office/drawing/2014/main" id="{0E2DD851-8A92-4F58-9B73-13AB33EC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43125"/>
            <a:ext cx="68770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FE5D732A-D559-47E7-8D66-19381E45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57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AFTER</a:t>
            </a:r>
          </a:p>
        </p:txBody>
      </p:sp>
      <p:sp>
        <p:nvSpPr>
          <p:cNvPr id="11" name="after-title">
            <a:extLst xmlns:a="http://schemas.openxmlformats.org/drawingml/2006/main">
              <a:ext uri="{FF2B5EF4-FFF2-40B4-BE49-F238E27FC236}">
                <a16:creationId xmlns:a16="http://schemas.microsoft.com/office/drawing/2014/main" id="{6CFC877F-3AAF-4187-A7E3-EE196F53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「まず、刺激を下げて観察しよう」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819650" y="36766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3" name="after-copy">
            <a:extLst xmlns:a="http://schemas.openxmlformats.org/drawingml/2006/main">
              <a:ext uri="{FF2B5EF4-FFF2-40B4-BE49-F238E27FC236}">
                <a16:creationId xmlns:a16="http://schemas.microsoft.com/office/drawing/2014/main" id="{A6CE668C-7D89-4791-B32C-69741D5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005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・安全な距離を取る</a:t>
            </a:r>
          </a:p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・声量と環境刺激を下げる</a:t>
            </a:r>
          </a:p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・耳・尻尾・視線・その後の行動を記録する</a:t>
            </a:r>
          </a:p>
        </p:txBody>
      </p:sp>
      <p:sp>
        <p:nvSpPr>
          <p:cNvPr id="14" name="safety">
            <a:extLst xmlns:a="http://schemas.openxmlformats.org/drawingml/2006/main">
              <a:ext uri="{FF2B5EF4-FFF2-40B4-BE49-F238E27FC236}">
                <a16:creationId xmlns:a16="http://schemas.microsoft.com/office/drawing/2014/main" id="{9B4C3A1B-D188-4C90-9352-A200A617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緊急兆候が疑われるときは、最優先で専門家への相談を案内。</a:t>
            </a:r>
          </a:p>
        </p:txBody>
      </p:sp>
    </p:spTree>
    <p:extLst>
      <p:ext uri="{BB962C8B-B14F-4D97-AF65-F5344CB8AC3E}">
        <p14:creationId xmlns:p14="http://schemas.microsoft.com/office/powerpoint/2010/main" val="750404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8FC9642-7650-4232-B7FB-E9C36F82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C884C91-85FF-4A10-81C4-6BA7AFB2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7A0A66-98BB-4F7C-BC8D-17345F6D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観察の記録が、「その子らしさ」を少しずつ見つけていく。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2556642-9354-422C-B187-BD5CF87D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1回の判定精度より、変化に気づける関係を育てる。</a:t>
            </a:r>
          </a:p>
        </p:txBody>
      </p:sp>
      <p:sp>
        <p:nvSpPr>
          <p:cNvPr id="5" name="loop-0">
            <a:extLst xmlns:a="http://schemas.openxmlformats.org/drawingml/2006/main">
              <a:ext uri="{FF2B5EF4-FFF2-40B4-BE49-F238E27FC236}">
                <a16:creationId xmlns:a16="http://schemas.microsoft.com/office/drawing/2014/main" id="{7D27661A-AF31-4A8D-B107-01EF7C91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2666C4E8-4917-4A98-A585-C94FDFC4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01 / 今日</a:t>
            </a:r>
          </a:p>
        </p:txBody>
      </p:sp>
      <p:sp>
        <p:nvSpPr>
          <p:cNvPr id="7" name="loop-t-0">
            <a:extLst xmlns:a="http://schemas.openxmlformats.org/drawingml/2006/main">
              <a:ext uri="{FF2B5EF4-FFF2-40B4-BE49-F238E27FC236}">
                <a16:creationId xmlns:a16="http://schemas.microsoft.com/office/drawing/2014/main" id="{B639709E-BCB2-4481-BD55-94155EEF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見立て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観察サイン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次の一手</a:t>
            </a:r>
          </a:p>
        </p:txBody>
      </p:sp>
      <p:sp>
        <p:nvSpPr>
          <p:cNvPr id="8" name="loop-1">
            <a:extLst xmlns:a="http://schemas.openxmlformats.org/drawingml/2006/main">
              <a:ext uri="{FF2B5EF4-FFF2-40B4-BE49-F238E27FC236}">
                <a16:creationId xmlns:a16="http://schemas.microsoft.com/office/drawing/2014/main" id="{6954F346-D377-42BA-A609-35568000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5623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994386FB-0379-43A0-B65C-843541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02 / 飼い主が記録</a:t>
            </a:r>
          </a:p>
        </p:txBody>
      </p:sp>
      <p:sp>
        <p:nvSpPr>
          <p:cNvPr id="10" name="loop-t-1">
            <a:extLst xmlns:a="http://schemas.openxmlformats.org/drawingml/2006/main">
              <a:ext uri="{FF2B5EF4-FFF2-40B4-BE49-F238E27FC236}">
                <a16:creationId xmlns:a16="http://schemas.microsoft.com/office/drawing/2014/main" id="{0CBEE81B-D124-4CC4-9094-FDEB76FA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耳が後ろ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尻尾が下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30秒で落ち着いた</a:t>
            </a:r>
          </a:p>
        </p:txBody>
      </p:sp>
      <p:sp>
        <p:nvSpPr>
          <p:cNvPr id="11" name="loop-2">
            <a:extLst xmlns:a="http://schemas.openxmlformats.org/drawingml/2006/main">
              <a:ext uri="{FF2B5EF4-FFF2-40B4-BE49-F238E27FC236}">
                <a16:creationId xmlns:a16="http://schemas.microsoft.com/office/drawing/2014/main" id="{5BC36468-CCD2-4428-9553-E5D5CB2D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5623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DCEAAB29-088F-4DC3-AEB9-A4D5AC6A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288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03 / 次回</a:t>
            </a:r>
          </a:p>
        </p:txBody>
      </p:sp>
      <p:sp>
        <p:nvSpPr>
          <p:cNvPr id="13" name="loop-t-2">
            <a:extLst xmlns:a="http://schemas.openxmlformats.org/drawingml/2006/main">
              <a:ext uri="{FF2B5EF4-FFF2-40B4-BE49-F238E27FC236}">
                <a16:creationId xmlns:a16="http://schemas.microsoft.com/office/drawing/2014/main" id="{B4435A2B-E6F9-49A2-B719-79BC30A3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前回より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落ち着くまでが短い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“普段との差”を示す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47675" y="532447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CE8D4-EE4B-4D1F-AF06-B94FEAC4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267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B01BD-066E-4729-84BA-F61E54D3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267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54F20-48E1-4F1D-BB60-E2B3A58C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267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8" name="loop-claim">
            <a:extLst xmlns:a="http://schemas.openxmlformats.org/drawingml/2006/main">
              <a:ext uri="{FF2B5EF4-FFF2-40B4-BE49-F238E27FC236}">
                <a16:creationId xmlns:a16="http://schemas.microsoft.com/office/drawing/2014/main" id="{1B8C5713-89D2-429E-B0B4-F876DAA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履歴は「診断の根拠」ではなく、飼い主が変化を見逃さないための鏡。</a:t>
            </a:r>
          </a:p>
        </p:txBody>
      </p:sp>
    </p:spTree>
    <p:extLst>
      <p:ext uri="{BB962C8B-B14F-4D97-AF65-F5344CB8AC3E}">
        <p14:creationId xmlns:p14="http://schemas.microsoft.com/office/powerpoint/2010/main" val="114008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503E71F-CF6C-490D-AFC3-7A64989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8DB88C3-B707-4DA1-99F0-80C1B400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9F3C08-2F19-4097-9661-1F237145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ChatGPT App だから、観察は会話の中で続けられる。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15B672E-1BEE-4E30-8F93-A2FC558E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Apps for Your Life に向けた、judge-testable な薄い縦切り。</a:t>
            </a:r>
          </a:p>
        </p:txBody>
      </p:sp>
      <p:sp>
        <p:nvSpPr>
          <p:cNvPr id="5" name="tech-1">
            <a:extLst xmlns:a="http://schemas.openxmlformats.org/drawingml/2006/main">
              <a:ext uri="{FF2B5EF4-FFF2-40B4-BE49-F238E27FC236}">
                <a16:creationId xmlns:a16="http://schemas.microsoft.com/office/drawing/2014/main" id="{62128F0A-DD51-4C51-8DE1-3FF3BDD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257550" cy="29718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AC3C41FE-219A-4C84-9542-E8EE247B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IN CHATGPT</a:t>
            </a:r>
          </a:p>
        </p:txBody>
      </p:sp>
      <p:sp>
        <p:nvSpPr>
          <p:cNvPr id="7" name="tech-1-t">
            <a:extLst xmlns:a="http://schemas.openxmlformats.org/drawingml/2006/main">
              <a:ext uri="{FF2B5EF4-FFF2-40B4-BE49-F238E27FC236}">
                <a16:creationId xmlns:a16="http://schemas.microsoft.com/office/drawing/2014/main" id="{CF16F445-BEDA-4A58-9C5B-1BE0351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音声・写真・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状況を添付</a:t>
            </a:r>
          </a:p>
        </p:txBody>
      </p:sp>
      <p:sp>
        <p:nvSpPr>
          <p:cNvPr id="8" name="tech-1-b">
            <a:extLst xmlns:a="http://schemas.openxmlformats.org/drawingml/2006/main">
              <a:ext uri="{FF2B5EF4-FFF2-40B4-BE49-F238E27FC236}">
                <a16:creationId xmlns:a16="http://schemas.microsoft.com/office/drawing/2014/main" id="{64672FC3-33EB-4306-B57B-C1FCD1D3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会話の文脈を保ったまま</a:t>
            </a:r>
          </a:p>
          <a:p xmlns:a="http://schemas.openxmlformats.org/drawingml/2006/main">
            <a:pPr algn="l">
              <a:def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追加質問できる。</a:t>
            </a:r>
          </a:p>
        </p:txBody>
      </p:sp>
      <p:sp>
        <p:nvSpPr>
          <p:cNvPr id="9" name="tech-2">
            <a:extLst xmlns:a="http://schemas.openxmlformats.org/drawingml/2006/main">
              <a:ext uri="{FF2B5EF4-FFF2-40B4-BE49-F238E27FC236}">
                <a16:creationId xmlns:a16="http://schemas.microsoft.com/office/drawing/2014/main" id="{2D3E4E67-33A0-42EC-AAF3-A5227238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43125"/>
            <a:ext cx="3257550" cy="29718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F3F81340-63AD-452E-BA21-BF98ECA4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57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GPT-5.6 + MCP</a:t>
            </a:r>
          </a:p>
        </p:txBody>
      </p:sp>
      <p:sp>
        <p:nvSpPr>
          <p:cNvPr id="11" name="tech-2-t">
            <a:extLst xmlns:a="http://schemas.openxmlformats.org/drawingml/2006/main">
              <a:ext uri="{FF2B5EF4-FFF2-40B4-BE49-F238E27FC236}">
                <a16:creationId xmlns:a16="http://schemas.microsoft.com/office/drawing/2014/main" id="{54920CB4-13FA-4A3B-ADB0-E6475B12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099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複数の手がかりを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構造化して統合</a:t>
            </a:r>
          </a:p>
        </p:txBody>
      </p:sp>
      <p:sp>
        <p:nvSpPr>
          <p:cNvPr id="12" name="tech-2-b">
            <a:extLst xmlns:a="http://schemas.openxmlformats.org/drawingml/2006/main">
              <a:ext uri="{FF2B5EF4-FFF2-40B4-BE49-F238E27FC236}">
                <a16:creationId xmlns:a16="http://schemas.microsoft.com/office/drawing/2014/main" id="{0787240F-470B-426C-B74D-75ABE49A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338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仮説・限界・観察点・</a:t>
            </a:r>
          </a:p>
          <a:p xmlns:a="http://schemas.openxmlformats.org/drawingml/2006/main">
            <a:pPr algn="l">
              <a:def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次の一手を検証可能に。</a:t>
            </a:r>
          </a:p>
        </p:txBody>
      </p:sp>
      <p:sp>
        <p:nvSpPr>
          <p:cNvPr id="13" name="tech-3">
            <a:extLst xmlns:a="http://schemas.openxmlformats.org/drawingml/2006/main">
              <a:ext uri="{FF2B5EF4-FFF2-40B4-BE49-F238E27FC236}">
                <a16:creationId xmlns:a16="http://schemas.microsoft.com/office/drawing/2014/main" id="{909B6EFA-75D1-4C55-A20E-F86046F2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43125"/>
            <a:ext cx="2857500" cy="29718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3554713E-A424-40BE-8FB1-BE0B9BDD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FUTURE</a:t>
            </a:r>
          </a:p>
        </p:txBody>
      </p:sp>
      <p:sp>
        <p:nvSpPr>
          <p:cNvPr id="15" name="tech-3-t">
            <a:extLst xmlns:a="http://schemas.openxmlformats.org/drawingml/2006/main">
              <a:ext uri="{FF2B5EF4-FFF2-40B4-BE49-F238E27FC236}">
                <a16:creationId xmlns:a16="http://schemas.microsoft.com/office/drawing/2014/main" id="{402D1268-BAA9-4742-BC92-0AEF5C5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音声 + 動画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+ 心拍 / HRV</a:t>
            </a:r>
          </a:p>
        </p:txBody>
      </p:sp>
      <p:sp>
        <p:nvSpPr>
          <p:cNvPr id="16" name="tech-3-b">
            <a:extLst xmlns:a="http://schemas.openxmlformats.org/drawingml/2006/main">
              <a:ext uri="{FF2B5EF4-FFF2-40B4-BE49-F238E27FC236}">
                <a16:creationId xmlns:a16="http://schemas.microsoft.com/office/drawing/2014/main" id="{75759372-801B-4458-904C-D0CF4021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338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ハードウェア依存は</a:t>
            </a:r>
          </a:p>
          <a:p xmlns:a="http://schemas.openxmlformats.org/drawingml/2006/main">
            <a:pPr algn="l">
              <a:def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MVP の外へ。</a:t>
            </a:r>
          </a:p>
        </p:txBody>
      </p:sp>
      <p:sp>
        <p:nvSpPr>
          <p:cNvPr id="17" name="mvp">
            <a:extLst xmlns:a="http://schemas.openxmlformats.org/drawingml/2006/main">
              <a:ext uri="{FF2B5EF4-FFF2-40B4-BE49-F238E27FC236}">
                <a16:creationId xmlns:a16="http://schemas.microsoft.com/office/drawing/2014/main" id="{F0A140E1-2345-4A64-B174-E1C96BB3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MVPの証明は「来客時の吠え」1ケース：入力 → 見立て → 観察ログ → 次回の差分。</a:t>
            </a:r>
          </a:p>
        </p:txBody>
      </p:sp>
    </p:spTree>
    <p:extLst>
      <p:ext uri="{BB962C8B-B14F-4D97-AF65-F5344CB8AC3E}">
        <p14:creationId xmlns:p14="http://schemas.microsoft.com/office/powerpoint/2010/main" val="10875810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9D7407C-3FBF-4C71-A27D-61882F86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8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PAWLENS · OPENAI BUILD WEEK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9512148-570E-436A-B1C2-5D2C3DBE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90DE98B-1091-46B0-9ACA-2C1986F0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犬の声を</a:t>
            </a:r>
          </a:p>
          <a:p xmlns:a="http://schemas.openxmlformats.org/drawingml/2006/main">
            <a:pPr algn="l">
              <a:defRPr sz="37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人間の言葉にするのではない。</a:t>
            </a:r>
          </a:p>
        </p:txBody>
      </p:sp>
      <p:sp>
        <p:nvSpPr>
          <p:cNvPr id="4" name="close-title2">
            <a:extLst xmlns:a="http://schemas.openxmlformats.org/drawingml/2006/main">
              <a:ext uri="{FF2B5EF4-FFF2-40B4-BE49-F238E27FC236}">
                <a16:creationId xmlns:a16="http://schemas.microsoft.com/office/drawing/2014/main" id="{43D53B28-0AD7-45A7-B8E1-A054BC6B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75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人が、犬をもっと注意深く見るための</a:t>
            </a:r>
          </a:p>
          <a:p xmlns:a="http://schemas.openxmlformats.org/drawingml/2006/main">
            <a:pPr algn="l">
              <a:defRPr sz="37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視点をつくる。</a:t>
            </a:r>
          </a:p>
        </p:txBody>
      </p:sp>
      <p:sp>
        <p:nvSpPr>
          <p:cNvPr id="5" name="close-copy">
            <a:extLst xmlns:a="http://schemas.openxmlformats.org/drawingml/2006/main">
              <a:ext uri="{FF2B5EF4-FFF2-40B4-BE49-F238E27FC236}">
                <a16:creationId xmlns:a16="http://schemas.microsoft.com/office/drawing/2014/main" id="{67B1B95E-158B-4803-9CD9-33358610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Every dog is already talking.</a:t>
            </a:r>
          </a:p>
          <a:p xmlns:a="http://schemas.openxmlformats.org/drawingml/2006/main">
            <a:pPr algn="l">
              <a:defRPr sz="18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We just help you listen — honestly.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8448675" y="18097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mvp-label">
            <a:extLst xmlns:a="http://schemas.openxmlformats.org/drawingml/2006/main">
              <a:ext uri="{FF2B5EF4-FFF2-40B4-BE49-F238E27FC236}">
                <a16:creationId xmlns:a16="http://schemas.microsoft.com/office/drawing/2014/main" id="{79D81F23-34EB-4BFB-BFD5-242E44FB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90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3D8DFF"/>
                </a:solidFill>
                <a:latin typeface="Hiragino Sans"/>
                <a:ea typeface="Hiragino Sans"/>
                <a:cs typeface="Hiragino Sans"/>
              </a:rPr>
              <a:t>MVP</a:t>
            </a:r>
          </a:p>
        </p:txBody>
      </p:sp>
      <p:sp>
        <p:nvSpPr>
          <p:cNvPr id="8" name="mvp-detail">
            <a:extLst xmlns:a="http://schemas.openxmlformats.org/drawingml/2006/main">
              <a:ext uri="{FF2B5EF4-FFF2-40B4-BE49-F238E27FC236}">
                <a16:creationId xmlns:a16="http://schemas.microsoft.com/office/drawing/2014/main" id="{47A80936-AE7D-4967-AE2C-7D279F20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193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来客時の吠え</a:t>
            </a:r>
          </a:p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 i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→ 観察 → 記録</a:t>
            </a:r>
          </a:p>
        </p:txBody>
      </p:sp>
      <p:sp>
        <p:nvSpPr>
          <p:cNvPr id="9" name="mvp-copy">
            <a:extLst xmlns:a="http://schemas.openxmlformats.org/drawingml/2006/main">
              <a:ext uri="{FF2B5EF4-FFF2-40B4-BE49-F238E27FC236}">
                <a16:creationId xmlns:a16="http://schemas.microsoft.com/office/drawing/2014/main" id="{451D6BB4-FE9D-4C49-9F2F-B3EA7B0C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9052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まず一つの場面で、</a:t>
            </a:r>
          </a:p>
          <a:p xmlns:a="http://schemas.openxmlformats.org/drawingml/2006/main">
            <a:pPr algn="l">
              <a:def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6606E"/>
                </a:solidFill>
                <a:latin typeface="Hiragino Sans"/>
                <a:ea typeface="Hiragino Sans"/>
                <a:cs typeface="Hiragino Sans"/>
              </a:rPr>
              <a:t>判断が変わる瞬間を証明する。</a:t>
            </a:r>
          </a:p>
        </p:txBody>
      </p:sp>
    </p:spTree>
    <p:extLst>
      <p:ext uri="{BB962C8B-B14F-4D97-AF65-F5344CB8AC3E}">
        <p14:creationId xmlns:p14="http://schemas.microsoft.com/office/powerpoint/2010/main" val="62431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2026-07-15T13:04:52.1150000Z</dcterms:created>
  <dcterms:modified xsi:type="dcterms:W3CDTF">2026-07-15T13:04:52.1150000Z</dcterms:modified>
</coreProperties>
</file>